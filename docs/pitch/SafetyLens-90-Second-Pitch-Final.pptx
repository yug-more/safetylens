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5256709a5d40d7" /><Relationship Type="http://schemas.openxmlformats.org/officeDocument/2006/relationships/extended-properties" Target="/docProps/app.xml" Id="R36422b6ddf014f62" /><Relationship Type="http://schemas.openxmlformats.org/officeDocument/2006/relationships/officeDocument" Target="/ppt/presentation.xml" Id="Reef5e3485845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84fec30aa54435"/>
  </p:sldMasterIdLst>
  <p:notesMasterIdLst>
    <p:notesMasterId xmlns:r="http://schemas.openxmlformats.org/officeDocument/2006/relationships" r:id="R99fec55a41484408"/>
  </p:notesMasterIdLst>
  <p:sldIdLst>
    <p:sldId xmlns:r="http://schemas.openxmlformats.org/officeDocument/2006/relationships" id="256" r:id="Ree5c3c7275d54dc7"/>
    <p:sldId xmlns:r="http://schemas.openxmlformats.org/officeDocument/2006/relationships" id="257" r:id="R68426ee35fe640b8"/>
    <p:sldId xmlns:r="http://schemas.openxmlformats.org/officeDocument/2006/relationships" id="258" r:id="R8df67fabc39c409f"/>
    <p:sldId xmlns:r="http://schemas.openxmlformats.org/officeDocument/2006/relationships" id="259" r:id="Rc1e067ca6f634597"/>
    <p:sldId xmlns:r="http://schemas.openxmlformats.org/officeDocument/2006/relationships" id="260" r:id="R7c1d44223a2043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23f2fd8cd84b6b" /><Relationship Type="http://schemas.openxmlformats.org/officeDocument/2006/relationships/slideMaster" Target="/ppt/slideMasters/slideMaster1.xml" Id="R7c84fec30aa54435" /><Relationship Type="http://schemas.openxmlformats.org/officeDocument/2006/relationships/notesMaster" Target="/ppt/notesMasters/notesMaster1.xml" Id="R99fec55a41484408" /><Relationship Type="http://schemas.openxmlformats.org/officeDocument/2006/relationships/presProps" Target="/ppt/presProps.xml" Id="Rbd660b73f25f46a2" /><Relationship Type="http://schemas.openxmlformats.org/officeDocument/2006/relationships/tableStyles" Target="/ppt/tableStyles.xml" Id="R1282beb17bb44e7f" /><Relationship Type="http://schemas.openxmlformats.org/officeDocument/2006/relationships/slide" Target="/ppt/slides/slide1.xml" Id="Ree5c3c7275d54dc7" /><Relationship Type="http://schemas.openxmlformats.org/officeDocument/2006/relationships/slide" Target="/ppt/slides/slide2.xml" Id="R68426ee35fe640b8" /><Relationship Type="http://schemas.openxmlformats.org/officeDocument/2006/relationships/slide" Target="/ppt/slides/slide3.xml" Id="R8df67fabc39c409f" /><Relationship Type="http://schemas.openxmlformats.org/officeDocument/2006/relationships/slide" Target="/ppt/slides/slide4.xml" Id="Rc1e067ca6f634597" /><Relationship Type="http://schemas.openxmlformats.org/officeDocument/2006/relationships/slide" Target="/ppt/slides/slide5.xml" Id="R7c1d44223a2043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3bddb83cbe43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1ea596676f44f0" /><Relationship Type="http://schemas.openxmlformats.org/officeDocument/2006/relationships/notesMaster" Target="/ppt/notesMasters/notesMaster1.xml" Id="Rb6f58641deb24e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2f49ce70a643d4" /><Relationship Type="http://schemas.openxmlformats.org/officeDocument/2006/relationships/notesMaster" Target="/ppt/notesMasters/notesMaster1.xml" Id="Rdc66d8d7c08946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1cfd8ef9504866" /><Relationship Type="http://schemas.openxmlformats.org/officeDocument/2006/relationships/notesMaster" Target="/ppt/notesMasters/notesMaster1.xml" Id="Re27eeb5b6274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d4a98192b64372" /><Relationship Type="http://schemas.openxmlformats.org/officeDocument/2006/relationships/notesMaster" Target="/ppt/notesMasters/notesMaster1.xml" Id="R7e990f6b740f4a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47be77b85b4147" /><Relationship Type="http://schemas.openxmlformats.org/officeDocument/2006/relationships/notesMaster" Target="/ppt/notesMasters/notesMaster1.xml" Id="R391ce047954343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SafetyLens monitors workplace video for falls, then helps teams move from detection to a clear, reviewable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Falls remain a serious workplace problem. In 2024, BLS recorded 479,480 fall, slip and trip cases involving days away from work and 844 fatal incidents. Across days-away cases, the median was eight days.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https://www.bls.gov/iif/latest-numbers.htm</a:t>
            </a:r>
          </a:p>
          <a:p xmlns:a="http://schemas.openxmlformats.org/drawingml/2006/main">
            <a:r>
              <a:t>https://www.bls.gov/iif/fatal-injuries-tables/fatal-occupational-injuries-table-a-7-2024.htm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SafetyLens watches a live feed locally, confirms a fall through pose and time-based state logic, and gives the operator evidence plus a clear response workflow. Deeper AI analysis is optional and only runs after an event.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entry market is factories and warehouses, where fixed cameras and formal response procedures already exist. The same platform can expand to other high-risk workplaces. BLS recorded 389 fatal falls, slips and trips in construction, 104 in trade, transportation and utilities, and 52 in manufacturing in 2024.</a:t>
            </a:r>
          </a:p>
          <a:p xmlns:a="http://schemas.openxmlformats.org/drawingml/2006/main">
            <a:r>
              <a:t>Source: https://www.bls.gov/opub/ted/2026/national-safety-stand-down-highlights-fall-hazards-in-construction.htm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Kami Vision validates the need for camera-based fall detection in home and senior-care settings. SafetyLens focuses on workplace operations and the workflow after detection: local sensing, incident evidence, policy-grounded response steps, human approval and reporting. SafetyLens is a prototype, not a validated production safety system.</a:t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https://kamivision.com/en-us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a9b89431043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21127c99eb45f2" /><Relationship Type="http://schemas.openxmlformats.org/officeDocument/2006/relationships/slideLayout" Target="/ppt/slideLayouts/slideLayout1.xml" Id="Re3864e92e2bb46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864e92e2bb46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b351bbf164af1" /><Relationship Type="http://schemas.openxmlformats.org/officeDocument/2006/relationships/notesSlide" Target="/ppt/notesSlides/notesSlide1.xml" Id="R80eb76d0306146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15cb88be547cf" /><Relationship Type="http://schemas.openxmlformats.org/officeDocument/2006/relationships/notesSlide" Target="/ppt/notesSlides/notesSlide2.xml" Id="R1029a167a6994e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be76f1fa341fd" /><Relationship Type="http://schemas.openxmlformats.org/officeDocument/2006/relationships/image" Target="/ppt/media/image.png" Id="R9652dae4c8974fbb" /><Relationship Type="http://schemas.openxmlformats.org/officeDocument/2006/relationships/notesSlide" Target="/ppt/notesSlides/notesSlide3.xml" Id="R6782cc1d2a634c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6067ec19e4365" /><Relationship Type="http://schemas.openxmlformats.org/officeDocument/2006/relationships/notesSlide" Target="/ppt/notesSlides/notesSlide4.xml" Id="Rbd4cfe31038a44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5675dd88a451c" /><Relationship Type="http://schemas.openxmlformats.org/officeDocument/2006/relationships/notesSlide" Target="/ppt/notesSlides/notesSlide5.xml" Id="R2db1b31b613344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CD543-69D1-45AC-8E06-22E99337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E4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284FE-9CA5-4CBC-A795-5D8EA6C5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3DE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DE46"/>
                </a:solidFill>
                <a:latin typeface="Arial"/>
                <a:ea typeface="Arial"/>
                <a:cs typeface="Arial"/>
              </a:rPr>
              <a:t>SAFETYLENS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AB055-E1CC-444E-9FF6-C36CFF30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810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See the fall.</a:t>
            </a:r>
          </a:p>
          <a:p xmlns:a="http://schemas.openxmlformats.org/drawingml/2006/main">
            <a:pPr>
              <a:defRPr sz="42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Start the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38473-FA60-41E7-842D-29168179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AB5C2"/>
                </a:solidFill>
                <a:latin typeface="Arial"/>
                <a:ea typeface="Arial"/>
                <a:cs typeface="Arial"/>
              </a:rPr>
              <a:t>Workplace fall detection and guided incident response for factories and warehouses.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965E8-5B6B-43B6-9F81-EA51A872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238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2632"/>
          </a:solidFill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E63AB-AEEE-4D7D-9CD0-5C1B1B5A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3DE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3DE46"/>
                </a:solidFill>
                <a:latin typeface="Arial"/>
                <a:ea typeface="Arial"/>
                <a:cs typeface="Arial"/>
              </a:rPr>
              <a:t>LOCAL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5ED87-65CD-4F37-9460-BCF079EC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Fast, private, token-free sensing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A28EA-5665-4FDD-8D44-D5E7436E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B5C2"/>
                </a:solidFill>
                <a:latin typeface="Arial"/>
                <a:ea typeface="Arial"/>
                <a:cs typeface="Arial"/>
              </a:rPr>
              <a:t>90-SECOND PITCH</a:t>
            </a:r>
          </a:p>
        </p:txBody>
      </p:sp>
    </p:spTree>
    <p:extLst>
      <p:ext uri="{BB962C8B-B14F-4D97-AF65-F5344CB8AC3E}">
        <p14:creationId xmlns:p14="http://schemas.microsoft.com/office/powerpoint/2010/main" val="428647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13DAE-BB3E-43C8-BB63-847C487B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DE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DE46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76740-18EC-44CF-889C-BA39DC82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Falls still create costly, time-sensitive emergencies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7DEE3-000D-4CE9-99D4-F742041E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FD299-21EA-4AA5-A313-1EAFC979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B5C2"/>
                </a:solidFill>
                <a:latin typeface="Arial"/>
                <a:ea typeface="Arial"/>
                <a:cs typeface="Arial"/>
              </a:rPr>
              <a:t>SAFETYLENS  /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510D0-FAE6-4932-B336-550D981B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21D27"/>
          </a:solidFill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9939E-A55E-45C1-93A4-4FA9A0DE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3337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C281D-9331-4C0D-A6EF-2093E56F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3B3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3B36"/>
                </a:solidFill>
                <a:latin typeface="Arial"/>
                <a:ea typeface="Arial"/>
                <a:cs typeface="Arial"/>
              </a:rPr>
              <a:t>479,480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261A9-AD78-4860-B15A-3CE4DB1C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876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fall, slip and trip cases</a:t>
            </a:r>
          </a:p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involving days away from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FB512-F7B2-423F-AD9C-6ECE821B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21D27"/>
          </a:solidFill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1AA41-B4D2-4BCC-8B30-A5D0F60D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33337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3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11C1B-40FD-44A7-8EEF-87277CCC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3B3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3B36"/>
                </a:solidFill>
                <a:latin typeface="Arial"/>
                <a:ea typeface="Arial"/>
                <a:cs typeface="Arial"/>
              </a:rPr>
              <a:t>844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85BCE-3BDB-4DA6-81BD-19C06D9F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2876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fatal workplace falls, slips</a:t>
            </a:r>
          </a:p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and trips in 2024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F4681-9932-4335-A5A1-88F2D7A7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333750" cy="34290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21D27"/>
          </a:solidFill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ACBE6-7EE6-415D-80D2-DD8A5272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3337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09034-99BD-4160-9E55-673FA321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B64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B648"/>
                </a:solidFill>
                <a:latin typeface="Arial"/>
                <a:ea typeface="Arial"/>
                <a:cs typeface="Arial"/>
              </a:rPr>
              <a:t>8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12CAB-A278-41BE-85FB-35BF3206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2876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median time away from work</a:t>
            </a:r>
          </a:p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across serious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1B666-A754-4F3C-B1DE-56C27A2C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The gap is not only seeing a fall—it is getting the right people to act quickly and consistently.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754CC-7743-4C77-A710-2CA1D3BB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AB5C2"/>
                </a:solidFill>
                <a:latin typeface="Arial"/>
                <a:ea typeface="Arial"/>
                <a:cs typeface="Arial"/>
              </a:rPr>
              <a:t>Source: U.S. Bureau of Labor Statistics, 2024</a:t>
            </a:r>
          </a:p>
        </p:txBody>
      </p:sp>
    </p:spTree>
    <p:extLst>
      <p:ext uri="{BB962C8B-B14F-4D97-AF65-F5344CB8AC3E}">
        <p14:creationId xmlns:p14="http://schemas.microsoft.com/office/powerpoint/2010/main" val="1173304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D617F-1453-44F3-904E-99DC654E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DE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DE46"/>
                </a:solidFill>
                <a:latin typeface="Arial"/>
                <a:ea typeface="Arial"/>
                <a:cs typeface="Arial"/>
              </a:rPr>
              <a:t>OUR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3B332-2DDA-44CE-A636-F458DF83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 simple path from live video to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C596B-D4B2-405B-907A-5E41B5D0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8E217-2098-4FEF-9A1C-3BF025F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B5C2"/>
                </a:solidFill>
                <a:latin typeface="Arial"/>
                <a:ea typeface="Arial"/>
                <a:cs typeface="Arial"/>
              </a:rPr>
              <a:t>SAFETYLENS  /  03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2dae4c8974fbb"/>
          <a:srcRect xmlns:a="http://schemas.openxmlformats.org/drawingml/2006/main" l="0" t="937" r="0" b="9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4953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DEBF8-F67E-4CF2-82E9-2B907AF9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00200"/>
            <a:ext cx="561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1D27"/>
          </a:solidFill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6B2A6-C066-4D1B-87D5-657A876F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3DE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3DE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3A616-C57B-4D09-B7E2-1092DDF0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335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Watch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455E3-83E3-425B-B718-489AA2B9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5C2"/>
                </a:solidFill>
                <a:latin typeface="Arial"/>
                <a:ea typeface="Arial"/>
                <a:cs typeface="Arial"/>
              </a:rPr>
              <a:t>A local pose model monitors the camera feed.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EA32A-3D8D-4E53-A9E9-4E690A62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33700"/>
            <a:ext cx="561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72632"/>
          </a:solidFill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FD2F4-D9C4-4FCD-8FE0-70E12035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3B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3B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C83B0-087A-48A5-BA35-6EAEC549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670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CCCC1-67B2-498C-9DCF-2BA5B759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909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5C2"/>
                </a:solidFill>
                <a:latin typeface="Arial"/>
                <a:ea typeface="Arial"/>
                <a:cs typeface="Arial"/>
              </a:rPr>
              <a:t>A state machine confirms fall and recovery states.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C8DA2-5DE2-460F-BDB3-03D12A21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67200"/>
            <a:ext cx="561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1D27"/>
          </a:solidFill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BA0B6-C7C2-410E-98EE-55EAB377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3DE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3DE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76589-D150-42D7-BA6F-4E768735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76A16-FF23-4CF2-B6E5-C4148810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244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AB5C2"/>
                </a:solidFill>
                <a:latin typeface="Arial"/>
                <a:ea typeface="Arial"/>
                <a:cs typeface="Arial"/>
              </a:rPr>
              <a:t>Evidence, alerts and a reviewable action plan appear.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1B3F1-9F1D-4ED7-AFE6-80B460D2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7150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DE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DE46"/>
                </a:solidFill>
                <a:latin typeface="Arial"/>
                <a:ea typeface="Arial"/>
                <a:cs typeface="Arial"/>
              </a:rPr>
              <a:t>Core detection runs locally—no per-frame AI API cost.</a:t>
            </a:r>
          </a:p>
        </p:txBody>
      </p:sp>
    </p:spTree>
    <p:extLst>
      <p:ext uri="{BB962C8B-B14F-4D97-AF65-F5344CB8AC3E}">
        <p14:creationId xmlns:p14="http://schemas.microsoft.com/office/powerpoint/2010/main" val="1093328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1FAA1-77D6-4FC2-84B3-19EE3ECC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DE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DE46"/>
                </a:solidFill>
                <a:latin typeface="Arial"/>
                <a:ea typeface="Arial"/>
                <a:cs typeface="Arial"/>
              </a:rPr>
              <a:t>THE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7E26D-545F-436A-9AC8-E1412C56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Start where every second—and every incident—matters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0027B-6F86-4A4D-BBB9-F27C15B0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25032-B964-4369-AA63-7154CA77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B5C2"/>
                </a:solidFill>
                <a:latin typeface="Arial"/>
                <a:ea typeface="Arial"/>
                <a:cs typeface="Arial"/>
              </a:rPr>
              <a:t>SAFETYLENS  /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E2F2D-8430-48FC-B663-45A6DCA6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286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72632"/>
          </a:solidFill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2DB27-FDC4-4A6F-9C2A-A48D7777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DE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DE46"/>
                </a:solidFill>
                <a:latin typeface="Arial"/>
                <a:ea typeface="Arial"/>
                <a:cs typeface="Arial"/>
              </a:rPr>
              <a:t>INITIAL WEDGE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48A2B-952A-4FBB-BF0C-C7BD955D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361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Factories +</a:t>
            </a:r>
          </a:p>
          <a:p xmlns:a="http://schemas.openxmlformats.org/drawingml/2006/main">
            <a:pPr>
              <a:defRPr sz="31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warehouses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1ABB8-E0E7-4A82-A681-C5FEDEC5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3486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5C2"/>
                </a:solidFill>
                <a:latin typeface="Arial"/>
                <a:ea typeface="Arial"/>
                <a:cs typeface="Arial"/>
              </a:rPr>
              <a:t>Fixed cameras, active floors and clear escalation procedures make these sites a focused starting point.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38E2E-FD95-4408-8472-159F1A04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3DE4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DE46"/>
                </a:solidFill>
                <a:latin typeface="Arial"/>
                <a:ea typeface="Arial"/>
                <a:cs typeface="Arial"/>
              </a:rPr>
              <a:t>Expand by site, then by hazard.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DC678-43C9-4433-8744-13A3B65B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002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5C2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B8E1C-5CE8-4E21-8EDD-38111156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669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3B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3B36"/>
                </a:solidFill>
                <a:latin typeface="Arial"/>
                <a:ea typeface="Arial"/>
                <a:cs typeface="Arial"/>
              </a:rPr>
              <a:t>389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F7A87-6C70-434B-8BA7-052147EA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716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fatal falls / slips / trips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E9132-1032-4D2B-9B67-3C11A2F2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95550"/>
            <a:ext cx="5524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3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D8EE6-8390-4667-B0EC-9BB4EE59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575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5C2"/>
                </a:solidFill>
                <a:latin typeface="Arial"/>
                <a:ea typeface="Arial"/>
                <a:cs typeface="Arial"/>
              </a:rPr>
              <a:t>TRADE + TRANSPORT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F2C6A-902D-494E-BA0B-5A564667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242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3B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3B36"/>
                </a:solidFill>
                <a:latin typeface="Arial"/>
                <a:ea typeface="Arial"/>
                <a:cs typeface="Arial"/>
              </a:rPr>
              <a:t>104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DAF5F-2231-4110-A091-3D55A742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289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fatal falls / slips / trips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202B2-8A58-4B58-A094-7B6C079B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2667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3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33334-B57C-4B72-8E07-CD7436CF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AB5C2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A66F5-1B39-4221-92CB-F8485D7D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815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3B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3B36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CBEA0-281B-47C5-A51B-E78D1C74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862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fatal falls / slips / trips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C311A-80BE-4D63-8AAE-AD109D09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10150"/>
            <a:ext cx="1809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DE4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C3AAF-57EB-4B88-BF57-8AB30117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292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8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Adjacent markets use the same core: camera sensing + verified response.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BF522-6212-4E21-AA6F-D3D2F129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AB5C2"/>
                </a:solidFill>
                <a:latin typeface="Arial"/>
                <a:ea typeface="Arial"/>
                <a:cs typeface="Arial"/>
              </a:rPr>
              <a:t>Source: U.S. Bureau of Labor Statistics, 2024</a:t>
            </a:r>
          </a:p>
        </p:txBody>
      </p:sp>
    </p:spTree>
    <p:extLst>
      <p:ext uri="{BB962C8B-B14F-4D97-AF65-F5344CB8AC3E}">
        <p14:creationId xmlns:p14="http://schemas.microsoft.com/office/powerpoint/2010/main" val="1973888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DC776-D102-436F-A2C1-16A2D6F3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DE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DE46"/>
                </a:solidFill>
                <a:latin typeface="Arial"/>
                <a:ea typeface="Arial"/>
                <a:cs typeface="Arial"/>
              </a:rPr>
              <a:t>WHY SAFETYLENS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5AEDB-2E6A-4F45-979B-E1AD702D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Detection is the trigger. Response is the product.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F1084-A6E2-4587-9D5E-77F807BD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A4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B9C66-1079-4010-850C-DC00C177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AB5C2"/>
                </a:solidFill>
                <a:latin typeface="Arial"/>
                <a:ea typeface="Arial"/>
                <a:cs typeface="Arial"/>
              </a:rPr>
              <a:t>SAFETYLENS  /  05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143000" y="1562100"/>
          <a:ext xmlns:a="http://schemas.openxmlformats.org/drawingml/2006/main" cx="9906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51667"/>
                <a:gridCol w="3852333"/>
                <a:gridCol w="3302000"/>
              </a:tblGrid>
              <a:tr h="6477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7263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SafetyLens</a:t>
                      </a:r>
                    </a:p>
                  </a:txBody>
                  <a:tcPr marL="91440" marR="91440" marT="45720" marB="45720">
                    <a:solidFill>
                      <a:srgbClr val="17312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Kami Vision</a:t>
                      </a:r>
                    </a:p>
                  </a:txBody>
                  <a:tcPr marL="91440" marR="91440" marT="45720" marB="45720">
                    <a:solidFill>
                      <a:srgbClr val="172632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Built for</a:t>
                      </a:r>
                    </a:p>
                  </a:txBody>
                  <a:tcPr marL="91440" marR="91440" marT="45720" marB="45720">
                    <a:solidFill>
                      <a:srgbClr val="121D2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Factories + warehouses</a:t>
                      </a:r>
                    </a:p>
                  </a:txBody>
                  <a:tcPr marL="91440" marR="91440" marT="45720" marB="45720">
                    <a:solidFill>
                      <a:srgbClr val="17312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Homes + senior care</a:t>
                      </a:r>
                    </a:p>
                  </a:txBody>
                  <a:tcPr marL="91440" marR="91440" marT="45720" marB="45720">
                    <a:solidFill>
                      <a:srgbClr val="121D27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After a fall</a:t>
                      </a:r>
                    </a:p>
                  </a:txBody>
                  <a:tcPr marL="91440" marR="91440" marT="45720" marB="45720">
                    <a:solidFill>
                      <a:srgbClr val="121D2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Workplace SOP response</a:t>
                      </a:r>
                    </a:p>
                  </a:txBody>
                  <a:tcPr marL="91440" marR="91440" marT="45720" marB="45720">
                    <a:solidFill>
                      <a:srgbClr val="17312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Trusted-contact alert</a:t>
                      </a:r>
                    </a:p>
                  </a:txBody>
                  <a:tcPr marL="91440" marR="91440" marT="45720" marB="45720">
                    <a:solidFill>
                      <a:srgbClr val="121D27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Human control</a:t>
                      </a:r>
                    </a:p>
                  </a:txBody>
                  <a:tcPr marL="91440" marR="91440" marT="45720" marB="45720">
                    <a:solidFill>
                      <a:srgbClr val="121D2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Review + approval gates</a:t>
                      </a:r>
                    </a:p>
                  </a:txBody>
                  <a:tcPr marL="91440" marR="91440" marT="45720" marB="45720">
                    <a:solidFill>
                      <a:srgbClr val="17312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Caregiver notification</a:t>
                      </a:r>
                    </a:p>
                  </a:txBody>
                  <a:tcPr marL="91440" marR="91440" marT="45720" marB="45720">
                    <a:solidFill>
                      <a:srgbClr val="121D27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21D27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Incident evidence + report</a:t>
                      </a:r>
                    </a:p>
                  </a:txBody>
                  <a:tcPr marL="91440" marR="91440" marT="45720" marB="45720">
                    <a:solidFill>
                      <a:srgbClr val="17312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Event notification</a:t>
                      </a:r>
                    </a:p>
                  </a:txBody>
                  <a:tcPr marL="91440" marR="91440" marT="45720" marB="45720">
                    <a:solidFill>
                      <a:srgbClr val="121D2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EF80F-8E3C-44A8-B57C-5ABE90E6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043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SafetyLens combines local sensing with the structured workflow after an incident: evidence, policy-grounded next steps, human approval and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6F67D-342C-450A-97A9-E098E1BA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AB5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AB5C2"/>
                </a:solidFill>
                <a:latin typeface="Arial"/>
                <a:ea typeface="Arial"/>
                <a:cs typeface="Arial"/>
              </a:rPr>
              <a:t>Competitor positioning: official product websites</a:t>
            </a:r>
          </a:p>
        </p:txBody>
      </p:sp>
    </p:spTree>
    <p:extLst>
      <p:ext uri="{BB962C8B-B14F-4D97-AF65-F5344CB8AC3E}">
        <p14:creationId xmlns:p14="http://schemas.microsoft.com/office/powerpoint/2010/main" val="1721633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2026-09-19T22:50:27.9330000Z</dcterms:created>
  <dcterms:modified xsi:type="dcterms:W3CDTF">2026-09-19T22:50:27.9330000Z</dcterms:modified>
</coreProperties>
</file>